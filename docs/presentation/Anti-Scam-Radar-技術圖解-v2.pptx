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3b625bf8744218" /><Relationship Type="http://schemas.openxmlformats.org/officeDocument/2006/relationships/extended-properties" Target="/docProps/app.xml" Id="R1e774726633044e8" /><Relationship Type="http://schemas.openxmlformats.org/officeDocument/2006/relationships/officeDocument" Target="/ppt/presentation.xml" Id="R2fc37f5e58db4d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c62ca3acbb451f"/>
  </p:sldMasterIdLst>
  <p:notesMasterIdLst>
    <p:notesMasterId xmlns:r="http://schemas.openxmlformats.org/officeDocument/2006/relationships" r:id="R8ed4e309587a40d7"/>
  </p:notesMasterIdLst>
  <p:sldIdLst>
    <p:sldId xmlns:r="http://schemas.openxmlformats.org/officeDocument/2006/relationships" id="256" r:id="R57df9c15899449a9"/>
    <p:sldId xmlns:r="http://schemas.openxmlformats.org/officeDocument/2006/relationships" id="257" r:id="R933c097ecc104fe3"/>
    <p:sldId xmlns:r="http://schemas.openxmlformats.org/officeDocument/2006/relationships" id="258" r:id="R24f2471e27634dfd"/>
    <p:sldId xmlns:r="http://schemas.openxmlformats.org/officeDocument/2006/relationships" id="259" r:id="R853ca2a7983b4564"/>
    <p:sldId xmlns:r="http://schemas.openxmlformats.org/officeDocument/2006/relationships" id="260" r:id="R9b3fc14268984dc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de310e7389480e" /><Relationship Type="http://schemas.openxmlformats.org/officeDocument/2006/relationships/slideMaster" Target="/ppt/slideMasters/slideMaster1.xml" Id="R6ec62ca3acbb451f" /><Relationship Type="http://schemas.openxmlformats.org/officeDocument/2006/relationships/notesMaster" Target="/ppt/notesMasters/notesMaster1.xml" Id="R8ed4e309587a40d7" /><Relationship Type="http://schemas.openxmlformats.org/officeDocument/2006/relationships/presProps" Target="/ppt/presProps.xml" Id="R5fa6e9a806964cfa" /><Relationship Type="http://schemas.openxmlformats.org/officeDocument/2006/relationships/tableStyles" Target="/ppt/tableStyles.xml" Id="R9922ebd8dd51498e" /><Relationship Type="http://schemas.openxmlformats.org/officeDocument/2006/relationships/slide" Target="/ppt/slides/slide1.xml" Id="R57df9c15899449a9" /><Relationship Type="http://schemas.openxmlformats.org/officeDocument/2006/relationships/slide" Target="/ppt/slides/slide2.xml" Id="R933c097ecc104fe3" /><Relationship Type="http://schemas.openxmlformats.org/officeDocument/2006/relationships/slide" Target="/ppt/slides/slide3.xml" Id="R24f2471e27634dfd" /><Relationship Type="http://schemas.openxmlformats.org/officeDocument/2006/relationships/slide" Target="/ppt/slides/slide4.xml" Id="R853ca2a7983b4564" /><Relationship Type="http://schemas.openxmlformats.org/officeDocument/2006/relationships/slide" Target="/ppt/slides/slide5.xml" Id="R9b3fc14268984d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52634f7f564b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34cb8dce36484e" /><Relationship Type="http://schemas.openxmlformats.org/officeDocument/2006/relationships/notesMaster" Target="/ppt/notesMasters/notesMaster1.xml" Id="Rb2ded3c45f494d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7a68c802fc41b4" /><Relationship Type="http://schemas.openxmlformats.org/officeDocument/2006/relationships/notesMaster" Target="/ppt/notesMasters/notesMaster1.xml" Id="R1c0cf73f432843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96602407ff4405" /><Relationship Type="http://schemas.openxmlformats.org/officeDocument/2006/relationships/notesMaster" Target="/ppt/notesMasters/notesMaster1.xml" Id="R6e4817b63a8f4d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5ea9914e7a4884" /><Relationship Type="http://schemas.openxmlformats.org/officeDocument/2006/relationships/notesMaster" Target="/ppt/notesMasters/notesMaster1.xml" Id="R3c16d25814c54a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1feedea8164f13" /><Relationship Type="http://schemas.openxmlformats.org/officeDocument/2006/relationships/notesMaster" Target="/ppt/notesMasters/notesMaster1.xml" Id="Rb4d252eced374a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程式依據：extension/src/content.js、background.js、journey.js、core.js；script/server.py、pipeline.py、workflow.py；ChatRoom/link_checks.py。實線為目前流程，deep 與獨立 API 見後頁。各入口不會自動呼叫所有 API。前端只遮罩文字，截圖仍由使用者選擇是否上傳。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程式依據：script/layers/rules.py、code_review.py、adjudication.py、pipeline.py、tools.py、site_checks.py、indicators.py、images.py、vision.py。L7 registry 為占位，完整 pipeline 用 async LLM 審查替換。L4 可信外傳軌跡在一般 extension DOM 入口不會被當作已觀測事實。L8 等需要額外輸入，並非每次都取得資料。品牌與語意 API、指標 API 是獨立入口，目前 extension 預設 /v1/analyze 未串入這些獨立 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程式依據：script/workflow.py assess/apply_assessment/diagnose；script/investigation.py PLANNABLE/investigate；script/adaptive.py synthesize/evaluate/promote/detect。日常工作流固定檢查，CLI deep 才跑 planner。deep 工具含 RDAP、crt.sh、inline script、UA、提供快照的 wayback_diff、本機指紋、PSL。DSL 只允許三個數值特徵：external_sensitive_events、sensitive_field_count、redirect_count。promote 要 reviewed、15 正15負以上、零FP、recall至少0.5；這是小樣本升版門檻，不是效能宣稱。尚無排程或自動接線套用，pipeline detectors 需呼叫者傳入。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程式依據：ChatRoom/app.js、link_checks.mjs、link_checks.py、detector.py、prediction_matcher.py、intervention.py；knowledge/detector/judgment_knowledge.v1.json。兩支路共用 UI，不代表 URL 結果已餵給對話 LLM。detector 使用 Responses 結構化輸出並驗證規則必要條件與引用原輪次。預測不作為當前風險證據。intervention 是狹窄直接領獎索取卡號安全碼補充規則，在模型回覆後套用。服務錯誤明確揭露。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程式依據：extension/manifest.json、package.json、src；pyproject.toml；script/server.py；ChatRoom/server.py；script/storage.py、network.py、llm.py。Chrome Extension MV3 + Vanilla JS，不是 React。8765 FastAPI/Uvicorn；8000 Python ThreadingHTTPServer，不是 FastAPI。SQLite為本機。OpenAI為SDK與外部Responses服務，Google Safe Browsing需要key且不保證命中。logo來源：Simple Icons v13.0.0，https://github.com/simple-icons/simple-icons/tree/13.0.0/icons ，圖形未修改、單色使用。Python https://www.python.org/community/logos/；FastAPI https://fastapi.tiangolo.com/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37dcc9483b41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36729bee6d40f9" /><Relationship Type="http://schemas.openxmlformats.org/officeDocument/2006/relationships/slideLayout" Target="/ppt/slideLayouts/slideLayout1.xml" Id="R1dadbde84a8a49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adbde84a8a49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6423de30f40b6" /><Relationship Type="http://schemas.openxmlformats.org/officeDocument/2006/relationships/notesSlide" Target="/ppt/notesSlides/notesSlide1.xml" Id="R4c9256ada2a946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58ed1baaf4fa6" /><Relationship Type="http://schemas.openxmlformats.org/officeDocument/2006/relationships/notesSlide" Target="/ppt/notesSlides/notesSlide2.xml" Id="R50eab26012654a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8ba2f0fbf48c7" /><Relationship Type="http://schemas.openxmlformats.org/officeDocument/2006/relationships/notesSlide" Target="/ppt/notesSlides/notesSlide3.xml" Id="R55cfaa18839243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0ae3635ce470f" /><Relationship Type="http://schemas.openxmlformats.org/officeDocument/2006/relationships/notesSlide" Target="/ppt/notesSlides/notesSlide4.xml" Id="Rc067240933f440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a8c14c4db409e" /><Relationship Type="http://schemas.openxmlformats.org/officeDocument/2006/relationships/image" Target="/ppt/media/image.png" Id="Rb88e0ed5331544a0" /><Relationship Type="http://schemas.openxmlformats.org/officeDocument/2006/relationships/image" Target="/ppt/media/image.svg" Id="Rfe8d64acb77c4576" /><Relationship Type="http://schemas.openxmlformats.org/officeDocument/2006/relationships/image" Target="/ppt/media/image2.png" Id="Rd685e9241da14e63" /><Relationship Type="http://schemas.openxmlformats.org/officeDocument/2006/relationships/image" Target="/ppt/media/image2.svg" Id="Rae625016320a4382" /><Relationship Type="http://schemas.openxmlformats.org/officeDocument/2006/relationships/image" Target="/ppt/media/image3.png" Id="Ra001f40eb4aa4fa1" /><Relationship Type="http://schemas.openxmlformats.org/officeDocument/2006/relationships/image" Target="/ppt/media/image3.svg" Id="Ra969ee85f88249a9" /><Relationship Type="http://schemas.openxmlformats.org/officeDocument/2006/relationships/image" Target="/ppt/media/image4.png" Id="Rc568fb9da4de4023" /><Relationship Type="http://schemas.openxmlformats.org/officeDocument/2006/relationships/image" Target="/ppt/media/image4.svg" Id="R3af108ed59104ef4" /><Relationship Type="http://schemas.openxmlformats.org/officeDocument/2006/relationships/image" Target="/ppt/media/image5.png" Id="Rde4ae19ae4664498" /><Relationship Type="http://schemas.openxmlformats.org/officeDocument/2006/relationships/image" Target="/ppt/media/image5.svg" Id="R4d47d54912044ef1" /><Relationship Type="http://schemas.openxmlformats.org/officeDocument/2006/relationships/image" Target="/ppt/media/image6.png" Id="R78cce26a756c4c58" /><Relationship Type="http://schemas.openxmlformats.org/officeDocument/2006/relationships/image" Target="/ppt/media/image6.svg" Id="Rbbc6efdc58dd41f3" /><Relationship Type="http://schemas.openxmlformats.org/officeDocument/2006/relationships/image" Target="/ppt/media/image7.png" Id="Rbfe4dcdb564e4eb1" /><Relationship Type="http://schemas.openxmlformats.org/officeDocument/2006/relationships/image" Target="/ppt/media/image7.svg" Id="R5c3325b5f8b042e0" /><Relationship Type="http://schemas.openxmlformats.org/officeDocument/2006/relationships/image" Target="/ppt/media/image8.png" Id="Rd25144f972b44e81" /><Relationship Type="http://schemas.openxmlformats.org/officeDocument/2006/relationships/image" Target="/ppt/media/image8.svg" Id="Rf5c2f099941e48a8" /><Relationship Type="http://schemas.openxmlformats.org/officeDocument/2006/relationships/notesSlide" Target="/ppt/notesSlides/notesSlide5.xml" Id="Rfe90b886500f44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A13C1C-A12B-44FB-AC29-67507811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337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整體偵測與 LLM 判斷流程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B5726-BADE-41A2-B6C4-C600EF9B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400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瀏覽器即時提醒、網站分析與聊天室，共用可追溯的檢查核心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94AB9-DA1F-4256-8B52-DA0F6F8F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ANTI-SCAM RADAR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AC87F-9775-4B32-AA00-D4352EB8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F0C6B-4234-4132-94EA-42F4CC24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30003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F4B1B-B93E-4276-8B2F-429A061B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使用者正在瀏覽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E1892-0228-4C4A-8501-1AEA0CB1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2619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DOM 變化／敏感操作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網址、表單與頁面內容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C608A-EDC6-474F-BAEC-FBCFB4C0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05000"/>
            <a:ext cx="30003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64FB9-581D-4710-AB9F-71E9E3CF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瀏覽器即時規則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76BE7-94EB-4B8C-B82C-F51F0E60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76500"/>
            <a:ext cx="2619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先顯示本機風險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文字遮罩＋跨頁摘要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ABBE8-7EAC-4CC0-A60C-AE12AF55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05000"/>
            <a:ext cx="30003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7BEB1-9186-40D3-9B99-ED9C39C9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00250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後端驗證入口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2C7E2-FD12-49E0-BE79-499A82A3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76500"/>
            <a:ext cx="2619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配對驗證／Pydantic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PageContext＋RDAP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BD3BF-5157-4245-9DA8-6A99E3FB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30003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2064D-2004-4250-AD52-A2EEB633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337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訊息中的網址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C1F6B-E439-4025-BBAA-1CFAB7D6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9625"/>
            <a:ext cx="2619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公開 HTML 靜態擷取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不必先開啟連結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04998-E782-4F9B-AD67-094AC40E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48125"/>
            <a:ext cx="30003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234DA-281B-46BC-B249-A70552E8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4337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script 檢查核心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91B10-2013-417A-847A-3258E283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19625"/>
            <a:ext cx="2619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L0–L16 適用檢查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Google 警示／黑名單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5E581-BEC5-416F-BEF6-80BFB776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48125"/>
            <a:ext cx="30003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EB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A02D8-0FB9-4609-A7C9-5A93F4D3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4337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LLM 補充分析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5D66B5-BC38-48A8-B1F4-8143805F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19625"/>
            <a:ext cx="2619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程式碼／語意／截圖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共享呼叫預算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2DE567-E35B-4DE0-B229-E7187CF4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96000"/>
            <a:ext cx="30003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0EB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22010-2FDA-456B-B81F-C6601EE7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191250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LLM 情境整合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A5D583-E0B8-44D9-B77E-2FF515C8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667500"/>
            <a:ext cx="2619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目的與假設比較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支持、反證、改判條件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D3861-38B9-4164-BA20-5FDD29DA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096000"/>
            <a:ext cx="30003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4F5F1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130098-B049-4DB5-A1F3-ACA67E29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191250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裁決與介入政策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EE9D94-BB4A-4BB4-9E9C-83060A76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667500"/>
            <a:ext cx="2619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L17 去重、分數與門檻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驗證 AI 引用及介入建議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484F22-3BC9-44AE-974B-C4E41BBD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96000"/>
            <a:ext cx="30003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2E2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256614-7148-4E08-AF98-073454AD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0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使用者提醒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9920E6-B7C4-4D88-B7F4-FC997568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0"/>
            <a:ext cx="2619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列出所有問題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橫幅／暫停／警告頁</a:t>
            </a:r>
          </a:p>
        </p:txBody>
      </p:sp>
      <p:cxnSp>
        <p:nvCxnSpPr>
          <p:cNvPr id="7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9500" y="26193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75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429500" y="26193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76" name=""/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5929313" y="3333750"/>
            <a:ext cx="381000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77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619500" y="47625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429500" y="47625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79" name=""/>
          <p:cNvCxnSpPr>
            <a:stCxn xmlns:a="http://schemas.openxmlformats.org/drawingml/2006/main" id="20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739313" y="54768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80" name=""/>
          <p:cNvCxnSpPr>
            <a:stCxn xmlns:a="http://schemas.openxmlformats.org/drawingml/2006/main" id="23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7429500" y="67627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6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3619500" y="67627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D63B54-BA49-4DCB-AC2E-C98555B7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0767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逐層結果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229011-C032-4075-9F11-56A95AA7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591050"/>
            <a:ext cx="2762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證據 ID</a:t>
            </a:r>
          </a:p>
          <a:p xmlns:a="http://schemas.openxmlformats.org/drawingml/2006/main">
            <a:pPr>
              <a:def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已觀測／推測</a:t>
            </a:r>
          </a:p>
          <a:p xmlns:a="http://schemas.openxmlformats.org/drawingml/2006/main">
            <a:pPr>
              <a:def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缺資料／錯誤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SQLite 稽核</a:t>
            </a:r>
          </a:p>
          <a:p xmlns:a="http://schemas.openxmlformats.org/drawingml/2006/main">
            <a:pPr>
              <a:def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保留查核依據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1F2F2D-B452-4500-A8FF-D32710B8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572375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本機適用規則固定執行；LLM 額度不足會揭露跳過。未命中、缺資料，都不等於安全。</a:t>
            </a:r>
          </a:p>
        </p:txBody>
      </p:sp>
    </p:spTree>
    <p:extLst>
      <p:ext uri="{BB962C8B-B14F-4D97-AF65-F5344CB8AC3E}">
        <p14:creationId xmlns:p14="http://schemas.microsoft.com/office/powerpoint/2010/main" val="178362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B54E7-A3DF-496A-A7C5-4AE9D978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337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L0–L17 與補充 script 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904EA-9B96-4722-8F1D-AAB4E578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400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每層輸出 LayerResult，帶證據與執行狀態，再交給整合裁決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EC5E5-42D8-4BF1-B257-FE55FE88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ANTI-SCAM RADAR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DB3B7-382E-41D5-8AAA-251F0C57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064DE-80A6-4043-850A-60F34CB5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3238500" cy="3333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46378-D1CE-4D33-9262-FB433EC8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網址與身分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8FB5D-861E-4A85-A41B-682B9480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28575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L1 網址／轉址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L2 品牌宣稱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L5 註冊時間／TLS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L6 裝置內容差異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L9 語言線索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L11 商家資訊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F1400-9293-4D15-BE9D-DD213C6E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3238500" cy="3333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0EB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1F8DB-BC1F-47A4-A574-FAC61F09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內容與行為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85D51-53CB-4B13-8CCC-7BFA28EA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19375"/>
            <a:ext cx="28575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L3 話術語意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L4 表單與可信軌跡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L7 LLM 靜態 JS 審查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L8 歷史敏感欄位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L12 下載檔案線索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L13 QR／L15 隱藏內容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52FD4-D901-4EA1-9022-F942CCE0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47875"/>
            <a:ext cx="3238500" cy="3333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4F5F1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8707E-7014-402D-9367-65C193BF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43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共享資料與控制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7F203-BDE2-4994-BC4F-7E9FA4A0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19375"/>
            <a:ext cx="28575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L0 成本閘門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L10 複核文字指紋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L16 去重回報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L14 介入行為門檻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L17 聚合與裁決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612A4-D41B-415F-BEDA-C4EDF828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047875"/>
            <a:ext cx="3286125" cy="3333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4F5F1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7BC20-81CC-4875-8FFC-59A401B3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14312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其他證據來源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2D904-BF78-49E3-9E33-E9242078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619375"/>
            <a:ext cx="290512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Google Safe Browsing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人工確認黑名單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VISION 截圖辨識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ADAPTIVE 核准規則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WORKFLOW 情境整合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146D5-3D77-4467-A633-1045CDF5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4001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2E2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910EF-9A54-4BEF-A8BC-857FCCB8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43625"/>
            <a:ext cx="1362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獨立 API／選用工具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3602B-B6EE-44F8-BBA5-10D233F5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19875"/>
            <a:ext cx="1362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品牌查證：自稱擷取＋搜尋官方來源＋網域比對     語意 API：話術與原文證據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indicators.py：網域／註冊／DNS 等指標     images.py：QR 解碼／OCR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4DBD1F-4353-4AF8-B466-63AD769F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572375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補充 API 與工具需由對應入口呼叫；資料未採集時保持 unknown。L7 不執行 JavaScript。</a:t>
            </a:r>
          </a:p>
        </p:txBody>
      </p:sp>
    </p:spTree>
    <p:extLst>
      <p:ext uri="{BB962C8B-B14F-4D97-AF65-F5344CB8AC3E}">
        <p14:creationId xmlns:p14="http://schemas.microsoft.com/office/powerpoint/2010/main" val="264696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C38584-3E99-4F9C-AF73-CB17CFED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337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LLM 自適應與改善機制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ACF70-F6C0-4F06-B53C-157D9CA3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400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依當下證據調整判斷，並把錯判整理成可測試的改善候選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285D9-FD81-4FEA-8AC2-E580E26C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ANTI-SCAM RADAR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3A1FF-5F7C-4818-BB9B-A6C62018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58806-3941-4687-BA9F-56514253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日常情境自適應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2B3AE-16AE-4377-9BF3-BF938DD1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3190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59934-20A5-47EA-8EAF-83F26CD4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0975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目前證據＋跨頁摘要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811ED-CC08-4243-B809-00BDD601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86000"/>
            <a:ext cx="2809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同分頁最多 8 個摘要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15 分鐘無活動到期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1C524-67FF-41C7-B419-76F2EC05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3190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0EB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EA9F3-B842-42F5-B69E-CD099163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LLM 比較解釋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A7FB2-E128-4E83-9D95-56D037F2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2809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詐騙／正常／資料不足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列支持、反證與未知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9F368-7A4B-407B-B581-87457E4C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1714500"/>
            <a:ext cx="3619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4F5F1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BE6CA-D8F0-453D-8CF7-0F5D9EAD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18097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調整介入方式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03597-9D06-4153-8FC5-81D319C8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0"/>
            <a:ext cx="323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觀察／提醒／暫停建議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程式核對證據與門檻</a:t>
            </a:r>
          </a:p>
        </p:txBody>
      </p:sp>
      <p:cxnSp>
        <p:nvCxnSpPr>
          <p:cNvPr id="5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667500" y="24050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0429875" y="24050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3BC06-2457-40DE-87D2-96FA6015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CLI deep 補查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16B0C-0B97-4291-91E0-86A60D83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14750"/>
            <a:ext cx="3190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0EB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47387-BE32-4116-A30D-A2039A77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000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LLM 選擇補查工具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2B7E1-9946-4882-AE57-E4428A74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86250"/>
            <a:ext cx="2809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只看結構化訊號摘要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工具白名單與預算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B7FE7-8E44-486F-BCBC-E5F56B02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3190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4AB0DA-BB77-4B86-B322-AB1ECAD6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000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受限工具執行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65D4A2-84E0-4276-A864-922032E8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0"/>
            <a:ext cx="2809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RDAP／憑證／UA 等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固定當前頁面，不任意爬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6563AE-8802-4C5E-81AB-A00B8833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14750"/>
            <a:ext cx="3619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4F5F1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A461CA-1F6A-4996-BED6-217B79FB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結果回饋與停止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1F4F55-D87F-4C49-B09D-6A8AA709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0"/>
            <a:ext cx="323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狀態回饋供下一輪選擇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證據足夠／預算用完即停</a:t>
            </a:r>
          </a:p>
        </p:txBody>
      </p:sp>
      <p:cxnSp>
        <p:nvCxnSpPr>
          <p:cNvPr id="69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667500" y="44053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70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0429875" y="44053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71" name=""/>
          <p:cNvCxnSpPr>
            <a:stCxn xmlns:a="http://schemas.openxmlformats.org/drawingml/2006/main" id="24" idx="2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>
            <a:off x="5072063" y="5095875"/>
            <a:ext cx="7739063" cy="228600"/>
          </a:xfrm>
          <a:prstGeom xmlns:a="http://schemas.openxmlformats.org/drawingml/2006/main" prst="bentConnector4">
            <a:avLst/>
          </a:prstGeom>
          <a:ln xmlns:a="http://schemas.openxmlformats.org/drawingml/2006/main" w="23813">
            <a:solidFill>
              <a:srgbClr val="956F3E"/>
            </a:solidFill>
            <a:prstDash val="dash"/>
            <a:tailEnd type="triangle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4620DE-5427-4AC4-B83D-9B8BDBBA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離線改善候選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FBD4BE-9526-4861-96AD-749DAC54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857875"/>
            <a:ext cx="3190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0EB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A453F5-5AD4-4ADC-96BE-3623C9A4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9531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人工標記＋LLM 診斷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4792C1-C5B5-46E8-97E9-514FC1DD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429375"/>
            <a:ext cx="2809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稽核結果與錯判原因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提出修改與正常反例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CB3011-4700-4276-BE42-C7605239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57875"/>
            <a:ext cx="3190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2E2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345F94-5EFC-4D2F-8857-5F12DF19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531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有限 DSL 候選規則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C07B81-2F3D-4784-BC38-21BC6D60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29375"/>
            <a:ext cx="2809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shadow 不影響風險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以標記案例重算評估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9BEE4D-3355-4D6C-B567-70C37178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857875"/>
            <a:ext cx="3619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2E2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6576A1-C544-4636-901F-A6DCEA36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9531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人工核准後可採用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06D0A8-9EDB-4B47-84E1-38B731BB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23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通過 promote 門檻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由呼叫者載入 detectors</a:t>
            </a:r>
          </a:p>
        </p:txBody>
      </p:sp>
      <p:cxnSp>
        <p:nvCxnSpPr>
          <p:cNvPr id="82" name=""/>
          <p:cNvCxnSpPr>
            <a:stCxn xmlns:a="http://schemas.openxmlformats.org/drawingml/2006/main" id="31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6667500" y="65484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56F3E"/>
            </a:solidFill>
            <a:prstDash val="dash"/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34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0429875" y="65484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56F3E"/>
            </a:solidFill>
            <a:prstDash val="dash"/>
            <a:tailEnd type="triangle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71DBC7-C34A-4564-AF73-945ED978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572375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改善模組已實作，尚未排程或自動串接；模型不會自改程式，也不能單靠建議新增硬封鎖。</a:t>
            </a:r>
          </a:p>
        </p:txBody>
      </p:sp>
    </p:spTree>
    <p:extLst>
      <p:ext uri="{BB962C8B-B14F-4D97-AF65-F5344CB8AC3E}">
        <p14:creationId xmlns:p14="http://schemas.microsoft.com/office/powerpoint/2010/main" val="9142211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8B5883-4D7B-49BE-8D5A-26FE298C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337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聊天室的雙路偵測與提早介入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6D717-A638-42D8-A846-F2B8C35B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400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新訊息同時觸發網址查核與對話語意判斷，結果各自更新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21F3D-15A1-45DB-9830-AA1F18E3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ANTI-SCAM RADAR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129BC-15DC-4EDC-A40B-E6E24747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B849C-FEB5-4179-9632-115982A0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857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9472D-5B6B-4E16-A996-5A1E0624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新訊息進入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1FFDC-C3F3-43B6-9A75-B06B4A81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2476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只分析已播放內容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不讀取後續結局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82635-435E-42BC-8E40-9F2E0265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05000"/>
            <a:ext cx="3143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BF753-8271-4812-B5DD-0780B1DC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網址擷取與去重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49CB2-CBCC-4288-B4D4-2CC80AB4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276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HTTP(S)／www／裸網域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兩個 URL 並行查核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1F28C-658B-4D2D-A2C1-E6E1CE4C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05000"/>
            <a:ext cx="3238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4F5F1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96DFC-033C-4CA7-8E86-08C109BE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00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共用網站分析核心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961A1-DE5C-4D66-A77B-0161C4B1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76500"/>
            <a:ext cx="285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公開 HTML＋script 管線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各網址保留獨立卡片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0EE27-B0E4-4AB1-994A-E260E7EE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3143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0EB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B42B2-4A27-4942-91ED-A7145C87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815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LLM 對話分析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63595-066A-4BD5-873D-26BDCF02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276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規則必要條件＋原文輪次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保留未解除的歷史風險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E1B81-619D-488D-8AAD-7A3BF54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86250"/>
            <a:ext cx="3238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4F5F1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ACCDFD-7844-4E86-A0CC-3E08372F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81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程式驗證與補充規則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3E288-D898-4536-9421-CC6D5FB4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57750"/>
            <a:ext cx="285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核對證據／必要條件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危險資料要求即提醒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D24B57-3120-4FE7-90CA-ECC1BAC5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3095625"/>
            <a:ext cx="2476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2E2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6EFEE-B63B-4107-8A95-B8711680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3190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使用者看到提醒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08F8F-3B54-44E5-AFCF-74AC2783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3667125"/>
            <a:ext cx="209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網址風險／查核狀態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對話警告暫停重播</a:t>
            </a:r>
          </a:p>
        </p:txBody>
      </p:sp>
      <p:cxnSp>
        <p:nvCxnSpPr>
          <p:cNvPr id="54" name=""/>
          <p:cNvCxnSpPr>
            <a:stCxn xmlns:a="http://schemas.openxmlformats.org/drawingml/2006/main" id="5" idx="0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047875" y="2643188"/>
            <a:ext cx="2286000" cy="500063"/>
          </a:xfrm>
          <a:prstGeom xmlns:a="http://schemas.openxmlformats.org/drawingml/2006/main" prst="bentConnector5">
            <a:avLst>
              <a:gd name="adj1" fmla="val 0"/>
              <a:gd name="adj2" fmla="val 45714"/>
              <a:gd name="adj3" fmla="val 90000"/>
            </a:avLst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55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477125" y="264318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56" name=""/>
          <p:cNvCxnSpPr>
            <a:stCxn xmlns:a="http://schemas.openxmlformats.org/drawingml/2006/main" id="11" idx="3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1572875" y="2643188"/>
            <a:ext cx="1809750" cy="452438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5" idx="2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047875" y="4619625"/>
            <a:ext cx="2286000" cy="404813"/>
          </a:xfrm>
          <a:prstGeom xmlns:a="http://schemas.openxmlformats.org/drawingml/2006/main" prst="bentConnector5">
            <a:avLst>
              <a:gd name="adj1" fmla="val 0"/>
              <a:gd name="adj2" fmla="val 56471"/>
              <a:gd name="adj3" fmla="val 90000"/>
            </a:avLst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477125" y="5024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59" name=""/>
          <p:cNvCxnSpPr>
            <a:stCxn xmlns:a="http://schemas.openxmlformats.org/drawingml/2006/main" id="17" idx="3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11572875" y="5000625"/>
            <a:ext cx="1809750" cy="228600"/>
          </a:xfrm>
          <a:prstGeom xmlns:a="http://schemas.openxmlformats.org/drawingml/2006/main" prst="bentConnector4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021A82-5016-468F-88AD-3A07BE1E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334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預測與驗證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277EEC-064C-43D8-9DA2-1C4C5D2C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781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預測對方下一個要求；後續訊息另行語意核對，不能把預測當成已發生。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2341DD-DBD6-4432-A693-3620F643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572375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例如第 5 則要求卡號與安全碼就示警；若後續表示已送出，提示改成事後處理，不宣稱已攔截送出。</a:t>
            </a:r>
          </a:p>
        </p:txBody>
      </p:sp>
    </p:spTree>
    <p:extLst>
      <p:ext uri="{BB962C8B-B14F-4D97-AF65-F5344CB8AC3E}">
        <p14:creationId xmlns:p14="http://schemas.microsoft.com/office/powerpoint/2010/main" val="1233871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EABD40-0343-42F8-AF20-7C360E6B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337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專案架構與技術組成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101B6-D70E-46DF-8F08-8451278F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400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本機擴充功能與兩個服務入口，共用 Python 驗證模組及外部查證服務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16DFD-FCB8-438B-9015-AD50C934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ANTI-SCAM RADAR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59311-4703-4F99-ABB7-9D8CD858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057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E6E1B-CDC5-4B11-BBF9-55529192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34290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BE6F7-AD09-4ABB-8D3F-A21FF432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Chrome 擴充功能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3C22F-6EEB-4720-B9C0-D21954B1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098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Manifest V3／JavaScript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DOM 偵測、快取、警告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DC99C-4BA5-4C4A-B43B-E3699929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38375"/>
            <a:ext cx="44291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4F5F1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E670F-B480-49FB-A99C-E059FBA8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404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網站分析 API :8765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B37EC-D553-401F-9699-D02651E1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09875"/>
            <a:ext cx="4048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FastAPI＋Uvicorn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配對驗證／Pydantic 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F7D92-1A73-40CB-B0F7-8546CB4A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433387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0EB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B4A8D-6C1F-4C29-AD40-FE014888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3362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外部 LLM 服務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DA035-0406-4D6B-8D31-8F1326FE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9875"/>
            <a:ext cx="3952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OpenAI Responses API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結構化輸出／視覺／搜尋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A578C-233A-4229-A970-ABDBDA38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4290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B904D-15B9-43CC-BCB4-F3B55ED8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57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聊天室 Demo :8000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C0035-989A-447E-909E-EF2585C5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HTML／JavaScript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Python ThreadingHTTPServer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9F883-6648-4726-887B-EBABCB83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62500"/>
            <a:ext cx="44291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4F5F1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0AA01-38ED-4184-A618-526952E2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57750"/>
            <a:ext cx="404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共用 Python 核心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20F6A-5E5F-49CB-BEAD-4FD67C8C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334000"/>
            <a:ext cx="4048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pipeline／layers／workflow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SafeFetcher／BeautifulSoup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對話 detector 為另一路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3EC07D-3DE4-4BA1-B048-1CE00636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62500"/>
            <a:ext cx="433387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A9B8C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91F8B-C293-4DCC-B481-15C0CAFD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57750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外部查證來源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BFE1B-3B06-4BFA-8134-3E92F250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34000"/>
            <a:ext cx="3952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Google Safe Browsing</a:t>
            </a:r>
          </a:p>
          <a:p xmlns:a="http://schemas.openxmlformats.org/drawingml/2006/main">
            <a:pPr>
              <a:def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RDAP／crt.sh／公開網頁</a:t>
            </a:r>
          </a:p>
        </p:txBody>
      </p:sp>
      <p:cxnSp>
        <p:nvCxnSpPr>
          <p:cNvPr id="6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48125" y="2976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62" name=""/>
          <p:cNvCxnSpPr>
            <a:stCxn xmlns:a="http://schemas.openxmlformats.org/drawingml/2006/main" id="8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7119938" y="371475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63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048125" y="550068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64" name=""/>
          <p:cNvCxnSpPr>
            <a:stCxn xmlns:a="http://schemas.openxmlformats.org/drawingml/2006/main" id="17" idx="3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9334500" y="3714750"/>
            <a:ext cx="3119438" cy="1785938"/>
          </a:xfrm>
          <a:prstGeom xmlns:a="http://schemas.openxmlformats.org/drawingml/2006/main" prst="bentConnector4">
            <a:avLst>
              <a:gd name="adj1" fmla="val 7328"/>
              <a:gd name="adj2" fmla="val 87200"/>
            </a:avLst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cxnSp>
        <p:nvCxnSpPr>
          <p:cNvPr id="65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334500" y="550068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1869D"/>
            </a:solidFill>
            <a:prstDash val="solid"/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3061AD-3CAF-4D2E-8DC1-C8F57075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8389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83F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4283F"/>
                </a:solidFill>
                <a:latin typeface="PingFang TC"/>
                <a:ea typeface="PingFang TC"/>
                <a:cs typeface="PingFang TC"/>
              </a:rPr>
              <a:t>本機持久化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2ADE8C-6ACE-4D93-8FA0-3D03EDE3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2104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SQLite 稽核／指紋／回報     JSON 規則／案例     JSONL 對話紀錄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e0ed5331544a0">
            <a:extLst>
              <a:ext uri="{96DAC541-7B7A-43D3-8B79-37D633B846F1}">
                <asvg:svgBlip xmlns:asvg="http://schemas.microsoft.com/office/drawing/2016/SVG/main" r:embed="Rfe8d64acb77c45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9125" y="1666875"/>
            <a:ext cx="409575" cy="409575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5e9241da14e63">
            <a:extLst>
              <a:ext uri="{96DAC541-7B7A-43D3-8B79-37D633B846F1}">
                <asvg:svgBlip xmlns:asvg="http://schemas.microsoft.com/office/drawing/2016/SVG/main" r:embed="Rae625016320a43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47775" y="1666875"/>
            <a:ext cx="409575" cy="409575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1f40eb4aa4fa1">
            <a:extLst>
              <a:ext uri="{96DAC541-7B7A-43D3-8B79-37D633B846F1}">
                <asvg:svgBlip xmlns:asvg="http://schemas.microsoft.com/office/drawing/2016/SVG/main" r:embed="Ra969ee85f88249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05375" y="1666875"/>
            <a:ext cx="409575" cy="409575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8fb9da4de4023">
            <a:extLst>
              <a:ext uri="{96DAC541-7B7A-43D3-8B79-37D633B846F1}">
                <asvg:svgBlip xmlns:asvg="http://schemas.microsoft.com/office/drawing/2016/SVG/main" r:embed="R3af108ed59104e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34025" y="1666875"/>
            <a:ext cx="409575" cy="409575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ae19ae4664498">
            <a:extLst>
              <a:ext uri="{96DAC541-7B7A-43D3-8B79-37D633B846F1}">
                <asvg:svgBlip xmlns:asvg="http://schemas.microsoft.com/office/drawing/2016/SVG/main" r:embed="R4d47d54912044e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62675" y="1666875"/>
            <a:ext cx="409575" cy="409575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ce26a756c4c58">
            <a:extLst>
              <a:ext uri="{96DAC541-7B7A-43D3-8B79-37D633B846F1}">
                <asvg:svgBlip xmlns:asvg="http://schemas.microsoft.com/office/drawing/2016/SVG/main" r:embed="Rbbc6efdc58dd41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0" y="1666875"/>
            <a:ext cx="409575" cy="409575"/>
          </a:xfrm>
          <a:prstGeom xmlns:a="http://schemas.openxmlformats.org/drawingml/2006/main" prst="rect">
            <a:avLst/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4dcdb564e4eb1">
            <a:extLst>
              <a:ext uri="{96DAC541-7B7A-43D3-8B79-37D633B846F1}">
                <asvg:svgBlip xmlns:asvg="http://schemas.microsoft.com/office/drawing/2016/SVG/main" r:embed="R5c3325b5f8b042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0" y="4191000"/>
            <a:ext cx="409575" cy="409575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144f972b44e81">
            <a:extLst>
              <a:ext uri="{96DAC541-7B7A-43D3-8B79-37D633B846F1}">
                <asvg:svgBlip xmlns:asvg="http://schemas.microsoft.com/office/drawing/2016/SVG/main" r:embed="Rf5c2f099941e48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33875" y="6886575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651748-A40A-4E5F-91A1-C213892F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572375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57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36579"/>
                </a:solidFill>
                <a:latin typeface="PingFang TC"/>
                <a:ea typeface="PingFang TC"/>
                <a:cs typeface="PingFang TC"/>
              </a:rPr>
              <a:t>建置與測試：esbuild、pytest、Playwright。品牌查證／語意／指標 API 為可獨立呼叫的補充入口。</a:t>
            </a:r>
          </a:p>
        </p:txBody>
      </p:sp>
    </p:spTree>
    <p:extLst>
      <p:ext uri="{BB962C8B-B14F-4D97-AF65-F5344CB8AC3E}">
        <p14:creationId xmlns:p14="http://schemas.microsoft.com/office/powerpoint/2010/main" val="689563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2026-09-12T08:27:47.8630000Z</dcterms:created>
  <dcterms:modified xsi:type="dcterms:W3CDTF">2026-09-12T08:27:47.8630000Z</dcterms:modified>
</coreProperties>
</file>